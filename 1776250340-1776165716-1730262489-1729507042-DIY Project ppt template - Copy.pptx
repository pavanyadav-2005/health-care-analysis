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2"/>
  </p:notesMasterIdLst>
  <p:handoutMasterIdLst>
    <p:handoutMasterId r:id="rId13"/>
  </p:handoutMasterIdLst>
  <p:sldIdLst>
    <p:sldId id="338" r:id="rId5"/>
    <p:sldId id="327" r:id="rId6"/>
    <p:sldId id="315" r:id="rId7"/>
    <p:sldId id="329" r:id="rId8"/>
    <p:sldId id="302" r:id="rId9"/>
    <p:sldId id="339" r:id="rId10"/>
    <p:sldId id="30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75" d="100"/>
          <a:sy n="75" d="100"/>
        </p:scale>
        <p:origin x="372" y="-12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9/27/2026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9/27/2026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9/27/2026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6312871" y="4141999"/>
            <a:ext cx="3400089" cy="861497"/>
          </a:xfrm>
        </p:spPr>
        <p:txBody>
          <a:bodyPr/>
          <a:lstStyle/>
          <a:p>
            <a:pPr algn="r"/>
            <a:r>
              <a:rPr lang="en-US" b="0" dirty="0" smtClean="0">
                <a:solidFill>
                  <a:schemeClr val="tx1"/>
                </a:solidFill>
              </a:rPr>
              <a:t>[</a:t>
            </a:r>
            <a:r>
              <a:rPr lang="en-US" b="0" dirty="0" smtClean="0">
                <a:solidFill>
                  <a:schemeClr val="tx1"/>
                </a:solidFill>
              </a:rPr>
              <a:t>Jangili </a:t>
            </a:r>
            <a:r>
              <a:rPr lang="en-US" b="0" dirty="0" err="1" smtClean="0">
                <a:solidFill>
                  <a:schemeClr val="tx1"/>
                </a:solidFill>
              </a:rPr>
              <a:t>Pavan</a:t>
            </a:r>
            <a:r>
              <a:rPr lang="en-US" b="0" dirty="0" smtClean="0">
                <a:solidFill>
                  <a:schemeClr val="tx1"/>
                </a:solidFill>
              </a:rPr>
              <a:t> </a:t>
            </a:r>
            <a:r>
              <a:rPr lang="en-US" b="0" dirty="0" err="1" smtClean="0">
                <a:solidFill>
                  <a:schemeClr val="tx1"/>
                </a:solidFill>
              </a:rPr>
              <a:t>Kalyan</a:t>
            </a:r>
            <a:r>
              <a:rPr lang="en-US" b="0" dirty="0" smtClean="0">
                <a:solidFill>
                  <a:schemeClr val="tx1"/>
                </a:solidFill>
              </a:rPr>
              <a:t>]</a:t>
            </a:r>
            <a:endParaRPr lang="en-IN" b="0" dirty="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2554942" y="2050553"/>
            <a:ext cx="6602505" cy="743448"/>
          </a:xfrm>
        </p:spPr>
        <p:txBody>
          <a:bodyPr>
            <a:normAutofit fontScale="90000"/>
          </a:bodyPr>
          <a:lstStyle/>
          <a:p>
            <a:r>
              <a:rPr lang="en-US" sz="3200" dirty="0"/>
              <a:t>Healthcare Analytics for Doctor Visits</a:t>
            </a:r>
            <a:br>
              <a:rPr lang="en-US" sz="3200" dirty="0"/>
            </a:br>
            <a:endParaRPr lang="en-IN" sz="3200" dirty="0"/>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1046480" y="1340528"/>
            <a:ext cx="7599979" cy="3782801"/>
          </a:xfrm>
        </p:spPr>
        <p:txBody>
          <a:bodyPr>
            <a:normAutofit/>
          </a:bodyPr>
          <a:lstStyle/>
          <a:p>
            <a:pPr>
              <a:lnSpc>
                <a:spcPct val="150000"/>
              </a:lnSpc>
            </a:pPr>
            <a:r>
              <a:rPr lang="en-US" sz="1600" dirty="0">
                <a:latin typeface="Times New Roman" panose="02020603050405020304" pitchFamily="18" charset="0"/>
                <a:cs typeface="Times New Roman" panose="02020603050405020304" pitchFamily="18" charset="0"/>
              </a:rPr>
              <a:t>The </a:t>
            </a:r>
            <a:r>
              <a:rPr lang="en-US" sz="1600" b="1" dirty="0">
                <a:latin typeface="Times New Roman" panose="02020603050405020304" pitchFamily="18" charset="0"/>
                <a:cs typeface="Times New Roman" panose="02020603050405020304" pitchFamily="18" charset="0"/>
              </a:rPr>
              <a:t>Healthcare Analytics for Doctor Visits</a:t>
            </a:r>
            <a:r>
              <a:rPr lang="en-US" sz="1600" dirty="0">
                <a:latin typeface="Times New Roman" panose="02020603050405020304" pitchFamily="18" charset="0"/>
                <a:cs typeface="Times New Roman" panose="02020603050405020304" pitchFamily="18" charset="0"/>
              </a:rPr>
              <a:t> project aims to analyze doctor visit data to understand </a:t>
            </a:r>
            <a:r>
              <a:rPr lang="en-US" sz="1600" b="1" dirty="0">
                <a:latin typeface="Times New Roman" panose="02020603050405020304" pitchFamily="18" charset="0"/>
                <a:cs typeface="Times New Roman" panose="02020603050405020304" pitchFamily="18" charset="0"/>
              </a:rPr>
              <a:t>patient visit patterns, appointment trends, doctor workload, waiting times, and common medical conditions</a:t>
            </a:r>
            <a:r>
              <a:rPr lang="en-US" sz="1600" dirty="0">
                <a:latin typeface="Times New Roman" panose="02020603050405020304" pitchFamily="18" charset="0"/>
                <a:cs typeface="Times New Roman" panose="02020603050405020304" pitchFamily="18" charset="0"/>
              </a:rPr>
              <a:t>. </a:t>
            </a:r>
            <a:endParaRPr lang="en-US" sz="1600" dirty="0" smtClean="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Healthcare organizations generate a large amount of data related to doctor visits, patient appointments, diseases, treatments, and waiting times.</a:t>
            </a:r>
            <a:endParaRPr lang="en-US" sz="1600" dirty="0" smtClean="0">
              <a:latin typeface="Times New Roman" panose="02020603050405020304" pitchFamily="18" charset="0"/>
              <a:cs typeface="Times New Roman" panose="02020603050405020304" pitchFamily="18" charset="0"/>
            </a:endParaRPr>
          </a:p>
          <a:p>
            <a:pPr>
              <a:lnSpc>
                <a:spcPct val="150000"/>
              </a:lnSpc>
            </a:pPr>
            <a:r>
              <a:rPr lang="en-US" sz="1600" dirty="0" smtClean="0">
                <a:latin typeface="Times New Roman" panose="02020603050405020304" pitchFamily="18" charset="0"/>
                <a:cs typeface="Times New Roman" panose="02020603050405020304" pitchFamily="18" charset="0"/>
              </a:rPr>
              <a:t>The </a:t>
            </a:r>
            <a:r>
              <a:rPr lang="en-US" sz="1600" dirty="0">
                <a:latin typeface="Times New Roman" panose="02020603050405020304" pitchFamily="18" charset="0"/>
                <a:cs typeface="Times New Roman" panose="02020603050405020304" pitchFamily="18" charset="0"/>
              </a:rPr>
              <a:t>analysis can help identify peak visiting hours, frequently visited departments, patient demographics, and factors affecting appointment attendance</a:t>
            </a:r>
            <a:r>
              <a:rPr lang="en-US" sz="1400" dirty="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550417"/>
            <a:ext cx="6995604" cy="790111"/>
          </a:xfrm>
        </p:spPr>
        <p:txBody>
          <a:bodyPr>
            <a:normAutofit/>
          </a:bodyPr>
          <a:lstStyle/>
          <a:p>
            <a:r>
              <a:rPr lang="en-US" sz="1600" dirty="0">
                <a:latin typeface="Times New Roman" panose="02020603050405020304" pitchFamily="18" charset="0"/>
                <a:cs typeface="Times New Roman" panose="02020603050405020304" pitchFamily="18" charset="0"/>
              </a:rPr>
              <a:t>PROBLEM  </a:t>
            </a:r>
            <a:r>
              <a:rPr lang="en-US" sz="1600" dirty="0" smtClean="0">
                <a:latin typeface="Times New Roman" panose="02020603050405020304" pitchFamily="18" charset="0"/>
                <a:cs typeface="Times New Roman" panose="02020603050405020304" pitchFamily="18" charset="0"/>
              </a:rPr>
              <a:t>STATEMENT:</a:t>
            </a:r>
            <a:endParaRPr lang="en-IN"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1291771" y="800100"/>
            <a:ext cx="9013371" cy="4105729"/>
          </a:xfrm>
        </p:spPr>
        <p:txBody>
          <a:bodyPr>
            <a:normAutofit/>
          </a:bodyPr>
          <a:lstStyle/>
          <a:p>
            <a:r>
              <a:rPr lang="en-GB" dirty="0" smtClean="0"/>
              <a:t/>
            </a:r>
            <a:br>
              <a:rPr lang="en-GB" dirty="0" smtClean="0"/>
            </a:br>
            <a:r>
              <a:rPr lang="en-US" sz="1600" b="0" dirty="0" smtClean="0">
                <a:latin typeface="Times New Roman" panose="02020603050405020304" pitchFamily="18" charset="0"/>
                <a:cs typeface="Times New Roman" panose="02020603050405020304" pitchFamily="18" charset="0"/>
              </a:rPr>
              <a:t>The </a:t>
            </a:r>
            <a:r>
              <a:rPr lang="en-US" sz="1600" b="0" dirty="0">
                <a:latin typeface="Times New Roman" panose="02020603050405020304" pitchFamily="18" charset="0"/>
                <a:cs typeface="Times New Roman" panose="02020603050405020304" pitchFamily="18" charset="0"/>
              </a:rPr>
              <a:t>main objective of this project is to analyze doctor visit data and identify important patterns such as the number of patient visits, frequently visited doctors or departments, patient demographics, appointment trends, waiting times, and missed or cancelled appointments. The project also focuses on identifying peak days and time periods when the number of patient visits is </a:t>
            </a:r>
            <a:r>
              <a:rPr lang="en-US" sz="1600" b="0" dirty="0" smtClean="0">
                <a:latin typeface="Times New Roman" panose="02020603050405020304" pitchFamily="18" charset="0"/>
                <a:cs typeface="Times New Roman" panose="02020603050405020304" pitchFamily="18" charset="0"/>
              </a:rPr>
              <a:t>high</a:t>
            </a:r>
            <a:br>
              <a:rPr lang="en-US" sz="1600" b="0" dirty="0" smtClean="0">
                <a:latin typeface="Times New Roman" panose="02020603050405020304" pitchFamily="18" charset="0"/>
                <a:cs typeface="Times New Roman" panose="02020603050405020304" pitchFamily="18" charset="0"/>
              </a:rPr>
            </a:br>
            <a:r>
              <a:rPr lang="en-US" sz="1600" b="0" dirty="0">
                <a:latin typeface="Times New Roman" panose="02020603050405020304" pitchFamily="18" charset="0"/>
                <a:cs typeface="Times New Roman" panose="02020603050405020304" pitchFamily="18" charset="0"/>
              </a:rPr>
              <a:t/>
            </a:r>
            <a:br>
              <a:rPr lang="en-US" sz="1600" b="0" dirty="0">
                <a:latin typeface="Times New Roman" panose="02020603050405020304" pitchFamily="18" charset="0"/>
                <a:cs typeface="Times New Roman" panose="02020603050405020304" pitchFamily="18" charset="0"/>
              </a:rPr>
            </a:br>
            <a:r>
              <a:rPr lang="en-US" sz="1600" b="0" dirty="0">
                <a:latin typeface="Times New Roman" panose="02020603050405020304" pitchFamily="18" charset="0"/>
                <a:cs typeface="Times New Roman" panose="02020603050405020304" pitchFamily="18" charset="0"/>
              </a:rPr>
              <a:t>Healthcare Analytics for Doctor Visits is a data analytics project designed to analyze patient appointment and doctor visit data to understand healthcare service patterns and improve operational efficiency. Healthcare organizations handle a large volume of information related to patients, doctors, appointments, medical conditions, visit dates, waiting times, and appointment status. Analyzing this information can help healthcare providers identify trends and make better data-driven decisions.</a:t>
            </a:r>
            <a:br>
              <a:rPr lang="en-US" sz="1600" b="0" dirty="0">
                <a:latin typeface="Times New Roman" panose="02020603050405020304" pitchFamily="18" charset="0"/>
                <a:cs typeface="Times New Roman" panose="02020603050405020304" pitchFamily="18" charset="0"/>
              </a:rPr>
            </a:br>
            <a:r>
              <a:rPr lang="en-US" sz="1600" b="0" dirty="0">
                <a:latin typeface="Times New Roman" panose="02020603050405020304" pitchFamily="18" charset="0"/>
                <a:cs typeface="Times New Roman" panose="02020603050405020304" pitchFamily="18" charset="0"/>
              </a:rPr>
              <a:t/>
            </a:r>
            <a:br>
              <a:rPr lang="en-US" sz="1600" b="0" dirty="0">
                <a:latin typeface="Times New Roman" panose="02020603050405020304" pitchFamily="18" charset="0"/>
                <a:cs typeface="Times New Roman" panose="02020603050405020304" pitchFamily="18" charset="0"/>
              </a:rPr>
            </a:br>
            <a:endParaRPr lang="en-IN" sz="1600" b="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p:cNvSpPr txBox="1"/>
          <p:nvPr/>
        </p:nvSpPr>
        <p:spPr>
          <a:xfrm>
            <a:off x="675957" y="773021"/>
            <a:ext cx="2836500" cy="338554"/>
          </a:xfrm>
          <a:prstGeom prst="rect">
            <a:avLst/>
          </a:prstGeom>
          <a:noFill/>
        </p:spPr>
        <p:txBody>
          <a:bodyPr wrap="square" rtlCol="0">
            <a:spAutoFit/>
          </a:bodyPr>
          <a:lstStyle/>
          <a:p>
            <a:r>
              <a:rPr lang="en-US" sz="1600" b="1" dirty="0" smtClean="0">
                <a:latin typeface="Times New Roman" panose="02020603050405020304" pitchFamily="18" charset="0"/>
                <a:cs typeface="Times New Roman" panose="02020603050405020304" pitchFamily="18" charset="0"/>
              </a:rPr>
              <a:t>PROJECT DESCRIPTION:</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64E3B60-2780-459A-8583-F095D5E7463A}"/>
              </a:ext>
            </a:extLst>
          </p:cNvPr>
          <p:cNvSpPr>
            <a:spLocks noGrp="1"/>
          </p:cNvSpPr>
          <p:nvPr>
            <p:ph type="body" sz="quarter" idx="12"/>
          </p:nvPr>
        </p:nvSpPr>
        <p:spPr>
          <a:xfrm>
            <a:off x="1364343" y="1526903"/>
            <a:ext cx="10179957" cy="4801326"/>
          </a:xfrm>
        </p:spPr>
        <p:txBody>
          <a:bodyPr>
            <a:noAutofit/>
          </a:bodyPr>
          <a:lstStyle/>
          <a:p>
            <a:pPr marL="0" indent="0">
              <a:buNone/>
            </a:pPr>
            <a:r>
              <a:rPr lang="en-US" sz="1600" b="1" dirty="0"/>
              <a:t>For a Healthcare Analytics for Doctor Visits project, the main end users are</a:t>
            </a:r>
            <a:r>
              <a:rPr lang="en-US" sz="1600" b="1" dirty="0" smtClean="0"/>
              <a:t>:</a:t>
            </a:r>
          </a:p>
          <a:p>
            <a:pPr marL="0" indent="0">
              <a:buNone/>
            </a:pPr>
            <a:endParaRPr lang="en-US" sz="1600" b="1" dirty="0">
              <a:latin typeface="Times New Roman" panose="02020603050405020304" pitchFamily="18" charset="0"/>
              <a:cs typeface="Times New Roman" panose="02020603050405020304" pitchFamily="18" charset="0"/>
            </a:endParaRPr>
          </a:p>
          <a:p>
            <a:r>
              <a:rPr lang="en-US" sz="1600" b="1" dirty="0"/>
              <a:t>Hospital Administrators</a:t>
            </a:r>
            <a:r>
              <a:rPr lang="en-US" sz="1600" dirty="0"/>
              <a:t> – Monitor patient visits, doctor workload, appointment trends, and hospital performance. </a:t>
            </a:r>
          </a:p>
          <a:p>
            <a:r>
              <a:rPr lang="en-US" sz="1600" b="1" dirty="0"/>
              <a:t>Doctors</a:t>
            </a:r>
            <a:r>
              <a:rPr lang="en-US" sz="1600" dirty="0"/>
              <a:t> – Understand patient visit patterns, workload, and appointment schedules. </a:t>
            </a:r>
          </a:p>
          <a:p>
            <a:r>
              <a:rPr lang="en-US" sz="1600" b="1" dirty="0"/>
              <a:t>Hospital Management</a:t>
            </a:r>
            <a:r>
              <a:rPr lang="en-US" sz="1600" dirty="0"/>
              <a:t> – Use analytics to plan resources, staff, and facilities based on patient demand. </a:t>
            </a:r>
          </a:p>
          <a:p>
            <a:r>
              <a:rPr lang="en-US" sz="1600" b="1" dirty="0"/>
              <a:t>Reception/Appointment Staff</a:t>
            </a:r>
            <a:r>
              <a:rPr lang="en-US" sz="1600" dirty="0"/>
              <a:t> – Track appointments, cancellations, no-shows, and peak visiting hours. </a:t>
            </a:r>
          </a:p>
          <a:p>
            <a:r>
              <a:rPr lang="en-US" sz="1600" b="1" dirty="0"/>
              <a:t>Healthcare Department Managers</a:t>
            </a:r>
            <a:r>
              <a:rPr lang="en-US" sz="1600" dirty="0"/>
              <a:t> – Compare department-wise visits and identify areas requiring additional resources. </a:t>
            </a:r>
          </a:p>
          <a:p>
            <a:r>
              <a:rPr lang="en-US" sz="1600" b="1" dirty="0"/>
              <a:t>Data Analysts</a:t>
            </a:r>
            <a:r>
              <a:rPr lang="en-US" sz="1600" dirty="0"/>
              <a:t> – Analyze healthcare data and generate reports and dashboards for decision-making. </a:t>
            </a:r>
          </a:p>
          <a:p>
            <a:r>
              <a:rPr lang="en-US" sz="1600" b="1" dirty="0"/>
              <a:t>Patients (Indirect Users)</a:t>
            </a:r>
            <a:r>
              <a:rPr lang="en-US" sz="1600" dirty="0"/>
              <a:t> – Benefit from reduced waiting times, improved appointment management, and better healthcare services. </a:t>
            </a:r>
          </a:p>
          <a:p>
            <a:r>
              <a:rPr lang="en-US" sz="1600" b="1" dirty="0"/>
              <a:t>Primary end users:</a:t>
            </a:r>
            <a:r>
              <a:rPr lang="en-US" sz="1600" dirty="0"/>
              <a:t> Hospital administrators, doctors, hospital management, and healthcare department managers.</a:t>
            </a:r>
          </a:p>
          <a:p>
            <a:pPr algn="just">
              <a:lnSpc>
                <a:spcPct val="150000"/>
              </a:lnSpc>
            </a:pPr>
            <a:endParaRPr lang="en-IN" sz="1600" dirty="0"/>
          </a:p>
        </p:txBody>
      </p:sp>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620008" y="876617"/>
            <a:ext cx="10046070" cy="458697"/>
          </a:xfrm>
        </p:spPr>
        <p:txBody>
          <a:bodyPr>
            <a:normAutofit/>
          </a:bodyPr>
          <a:lstStyle/>
          <a:p>
            <a:r>
              <a:rPr lang="en-US" sz="1600" dirty="0">
                <a:latin typeface="Times New Roman" panose="02020603050405020304" pitchFamily="18" charset="0"/>
                <a:cs typeface="Times New Roman" panose="02020603050405020304" pitchFamily="18" charset="0"/>
              </a:rPr>
              <a:t>WHO ARE THE END </a:t>
            </a:r>
            <a:r>
              <a:rPr lang="en-US" sz="1600" dirty="0" smtClean="0">
                <a:latin typeface="Times New Roman" panose="02020603050405020304" pitchFamily="18" charset="0"/>
                <a:cs typeface="Times New Roman" panose="02020603050405020304" pitchFamily="18" charset="0"/>
              </a:rPr>
              <a:t>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6" end="6"/>
                                            </p:txEl>
                                          </p:spTgt>
                                        </p:tgtEl>
                                        <p:attrNameLst>
                                          <p:attrName>style.visibility</p:attrName>
                                        </p:attrNameLst>
                                      </p:cBhvr>
                                      <p:to>
                                        <p:strVal val="visible"/>
                                      </p:to>
                                    </p:set>
                                    <p:animEffect transition="in" filter="fade">
                                      <p:cBhvr>
                                        <p:cTn id="49" dur="1000"/>
                                        <p:tgtEl>
                                          <p:spTgt spid="2">
                                            <p:txEl>
                                              <p:pRg st="6" end="6"/>
                                            </p:txEl>
                                          </p:spTgt>
                                        </p:tgtEl>
                                      </p:cBhvr>
                                    </p:animEffect>
                                    <p:anim calcmode="lin" valueType="num">
                                      <p:cBhvr>
                                        <p:cTn id="50"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7" end="7"/>
                                            </p:txEl>
                                          </p:spTgt>
                                        </p:tgtEl>
                                        <p:attrNameLst>
                                          <p:attrName>style.visibility</p:attrName>
                                        </p:attrNameLst>
                                      </p:cBhvr>
                                      <p:to>
                                        <p:strVal val="visible"/>
                                      </p:to>
                                    </p:set>
                                    <p:animEffect transition="in" filter="fade">
                                      <p:cBhvr>
                                        <p:cTn id="56" dur="1000"/>
                                        <p:tgtEl>
                                          <p:spTgt spid="2">
                                            <p:txEl>
                                              <p:pRg st="7" end="7"/>
                                            </p:txEl>
                                          </p:spTgt>
                                        </p:tgtEl>
                                      </p:cBhvr>
                                    </p:animEffect>
                                    <p:anim calcmode="lin" valueType="num">
                                      <p:cBhvr>
                                        <p:cTn id="57"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8" end="8"/>
                                            </p:txEl>
                                          </p:spTgt>
                                        </p:tgtEl>
                                        <p:attrNameLst>
                                          <p:attrName>style.visibility</p:attrName>
                                        </p:attrNameLst>
                                      </p:cBhvr>
                                      <p:to>
                                        <p:strVal val="visible"/>
                                      </p:to>
                                    </p:set>
                                    <p:animEffect transition="in" filter="fade">
                                      <p:cBhvr>
                                        <p:cTn id="63" dur="1000"/>
                                        <p:tgtEl>
                                          <p:spTgt spid="2">
                                            <p:txEl>
                                              <p:pRg st="8" end="8"/>
                                            </p:txEl>
                                          </p:spTgt>
                                        </p:tgtEl>
                                      </p:cBhvr>
                                    </p:animEffect>
                                    <p:anim calcmode="lin" valueType="num">
                                      <p:cBhvr>
                                        <p:cTn id="64"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9" end="9"/>
                                            </p:txEl>
                                          </p:spTgt>
                                        </p:tgtEl>
                                        <p:attrNameLst>
                                          <p:attrName>style.visibility</p:attrName>
                                        </p:attrNameLst>
                                      </p:cBhvr>
                                      <p:to>
                                        <p:strVal val="visible"/>
                                      </p:to>
                                    </p:set>
                                    <p:animEffect transition="in" filter="fade">
                                      <p:cBhvr>
                                        <p:cTn id="70" dur="1000"/>
                                        <p:tgtEl>
                                          <p:spTgt spid="2">
                                            <p:txEl>
                                              <p:pRg st="9" end="9"/>
                                            </p:txEl>
                                          </p:spTgt>
                                        </p:tgtEl>
                                      </p:cBhvr>
                                    </p:animEffect>
                                    <p:anim calcmode="lin" valueType="num">
                                      <p:cBhvr>
                                        <p:cTn id="71"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xmlns="" id="{B21C28F5-3CA3-4B78-B5C9-550C00BB3174}"/>
              </a:ext>
            </a:extLst>
          </p:cNvPr>
          <p:cNvSpPr>
            <a:spLocks noGrp="1"/>
          </p:cNvSpPr>
          <p:nvPr>
            <p:ph type="body" sz="quarter" idx="12"/>
          </p:nvPr>
        </p:nvSpPr>
        <p:spPr>
          <a:xfrm>
            <a:off x="1233714" y="1001486"/>
            <a:ext cx="8184606" cy="4513943"/>
          </a:xfrm>
        </p:spPr>
        <p:txBody>
          <a:bodyPr numCol="1"/>
          <a:lstStyle/>
          <a:p>
            <a:pPr marL="457200" lvl="1" indent="0">
              <a:lnSpc>
                <a:spcPct val="150000"/>
              </a:lnSpc>
              <a:buNone/>
            </a:pPr>
            <a:endParaRPr lang="en-US" dirty="0" smtClean="0"/>
          </a:p>
          <a:p>
            <a:pPr marL="457200" lvl="1" indent="0">
              <a:lnSpc>
                <a:spcPct val="150000"/>
              </a:lnSpc>
              <a:buNone/>
            </a:pPr>
            <a:endParaRPr lang="en-IN" dirty="0"/>
          </a:p>
        </p:txBody>
      </p:sp>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660399" y="430567"/>
            <a:ext cx="5306291" cy="570919"/>
          </a:xfrm>
        </p:spPr>
        <p:txBody>
          <a:bodyPr>
            <a:normAutofit/>
          </a:bodyPr>
          <a:lstStyle/>
          <a:p>
            <a:r>
              <a:rPr lang="en-US" sz="1600" dirty="0" smtClean="0"/>
              <a:t>Technology </a:t>
            </a:r>
            <a:r>
              <a:rPr lang="en-US" sz="1600" dirty="0" smtClean="0"/>
              <a:t>Used:</a:t>
            </a:r>
            <a:endParaRPr lang="en-US" sz="1600" dirty="0"/>
          </a:p>
        </p:txBody>
      </p:sp>
      <p:sp>
        <p:nvSpPr>
          <p:cNvPr id="11" name="TextBox 10"/>
          <p:cNvSpPr txBox="1"/>
          <p:nvPr/>
        </p:nvSpPr>
        <p:spPr>
          <a:xfrm>
            <a:off x="1349828" y="1051787"/>
            <a:ext cx="5138057" cy="3693319"/>
          </a:xfrm>
          <a:prstGeom prst="rect">
            <a:avLst/>
          </a:prstGeom>
          <a:noFill/>
        </p:spPr>
        <p:txBody>
          <a:bodyPr wrap="square" rtlCol="0">
            <a:spAutoFit/>
          </a:bodyPr>
          <a:lstStyle/>
          <a:p>
            <a:pPr marL="285750" indent="-285750">
              <a:buFont typeface="Wingdings" panose="05000000000000000000" pitchFamily="2" charset="2"/>
              <a:buChar char="Ø"/>
            </a:pPr>
            <a:r>
              <a:rPr lang="en-US" dirty="0" smtClean="0"/>
              <a:t>Excel</a:t>
            </a:r>
          </a:p>
          <a:p>
            <a:r>
              <a:rPr lang="en-US" dirty="0" smtClean="0"/>
              <a:t> </a:t>
            </a:r>
          </a:p>
          <a:p>
            <a:pPr marL="285750" indent="-285750">
              <a:buFont typeface="Wingdings" panose="05000000000000000000" pitchFamily="2" charset="2"/>
              <a:buChar char="Ø"/>
            </a:pPr>
            <a:r>
              <a:rPr lang="en-US" dirty="0" smtClean="0"/>
              <a:t>Python</a:t>
            </a:r>
          </a:p>
          <a:p>
            <a:endParaRPr lang="en-US" dirty="0" smtClean="0"/>
          </a:p>
          <a:p>
            <a:pPr marL="285750" indent="-285750">
              <a:buFont typeface="Wingdings" panose="05000000000000000000" pitchFamily="2" charset="2"/>
              <a:buChar char="Ø"/>
            </a:pPr>
            <a:r>
              <a:rPr lang="en-US" dirty="0" smtClean="0"/>
              <a:t>Pandas</a:t>
            </a:r>
          </a:p>
          <a:p>
            <a:pPr marL="285750" indent="-285750">
              <a:buFont typeface="Wingdings" panose="05000000000000000000" pitchFamily="2" charset="2"/>
              <a:buChar char="Ø"/>
            </a:pPr>
            <a:endParaRPr lang="en-US" dirty="0" smtClean="0"/>
          </a:p>
          <a:p>
            <a:pPr marL="285750" indent="-285750">
              <a:buFont typeface="Wingdings" panose="05000000000000000000" pitchFamily="2" charset="2"/>
              <a:buChar char="Ø"/>
            </a:pPr>
            <a:r>
              <a:rPr lang="en-US" dirty="0" err="1" smtClean="0"/>
              <a:t>Numpy</a:t>
            </a:r>
            <a:endParaRPr lang="en-US" dirty="0" smtClean="0"/>
          </a:p>
          <a:p>
            <a:endParaRPr lang="en-US" dirty="0" smtClean="0"/>
          </a:p>
          <a:p>
            <a:pPr marL="285750" indent="-285750">
              <a:buFont typeface="Wingdings" panose="05000000000000000000" pitchFamily="2" charset="2"/>
              <a:buChar char="Ø"/>
            </a:pPr>
            <a:r>
              <a:rPr lang="en-US" dirty="0" err="1" smtClean="0"/>
              <a:t>Matplotlib</a:t>
            </a:r>
            <a:r>
              <a:rPr lang="en-US" dirty="0" smtClean="0"/>
              <a:t> </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IN" dirty="0" err="1"/>
              <a:t>Jupyter</a:t>
            </a:r>
            <a:r>
              <a:rPr lang="en-IN" dirty="0"/>
              <a:t> Notebook / VS Code</a:t>
            </a:r>
            <a:endParaRPr lang="en-US" dirty="0" smtClean="0"/>
          </a:p>
          <a:p>
            <a:endParaRPr lang="en-US" dirty="0" smtClean="0"/>
          </a:p>
          <a:p>
            <a:pPr marL="285750" indent="-285750">
              <a:buFont typeface="Wingdings" panose="05000000000000000000" pitchFamily="2" charset="2"/>
              <a:buChar char="Ø"/>
            </a:pPr>
            <a:endParaRPr lang="en-IN" dirty="0"/>
          </a:p>
        </p:txBody>
      </p:sp>
      <p:graphicFrame>
        <p:nvGraphicFramePr>
          <p:cNvPr id="13" name="Table 12"/>
          <p:cNvGraphicFramePr>
            <a:graphicFrameLocks noGrp="1"/>
          </p:cNvGraphicFramePr>
          <p:nvPr>
            <p:extLst>
              <p:ext uri="{D42A27DB-BD31-4B8C-83A1-F6EECF244321}">
                <p14:modId xmlns:p14="http://schemas.microsoft.com/office/powerpoint/2010/main" val="1494524006"/>
              </p:ext>
            </p:extLst>
          </p:nvPr>
        </p:nvGraphicFramePr>
        <p:xfrm>
          <a:off x="660399" y="5191930"/>
          <a:ext cx="8596312" cy="365760"/>
        </p:xfrm>
        <a:graphic>
          <a:graphicData uri="http://schemas.openxmlformats.org/drawingml/2006/table">
            <a:tbl>
              <a:tblPr/>
              <a:tblGrid>
                <a:gridCol w="4298156"/>
                <a:gridCol w="4298156"/>
              </a:tblGrid>
              <a:tr h="0">
                <a:tc>
                  <a:txBody>
                    <a:bodyPr/>
                    <a:lstStyle/>
                    <a:p>
                      <a:endParaRPr lang="en-IN" dirty="0"/>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210300"/>
            <a:ext cx="2143125" cy="45466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429511"/>
          </a:xfrm>
        </p:spPr>
        <p:txBody>
          <a:bodyPr>
            <a:normAutofit/>
          </a:bodyPr>
          <a:lstStyle/>
          <a:p>
            <a:r>
              <a:rPr lang="en-GB" sz="1600" dirty="0" smtClean="0">
                <a:latin typeface="Times New Roman" panose="02020603050405020304" pitchFamily="18" charset="0"/>
                <a:cs typeface="Times New Roman" panose="02020603050405020304" pitchFamily="18" charset="0"/>
              </a:rPr>
              <a:t>RESULTS:</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1371600" y="-2286000"/>
            <a:ext cx="18653760" cy="1197863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xmlns=""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sp>
        <p:nvSpPr>
          <p:cNvPr id="10" name="Text Placeholder 1">
            <a:extLst>
              <a:ext uri="{FF2B5EF4-FFF2-40B4-BE49-F238E27FC236}">
                <a16:creationId xmlns:a16="http://schemas.microsoft.com/office/drawing/2014/main" xmlns="" id="{B19D8AC7-3787-4ADB-9212-0808F015C2DD}"/>
              </a:ext>
            </a:extLst>
          </p:cNvPr>
          <p:cNvSpPr>
            <a:spLocks noGrp="1"/>
          </p:cNvSpPr>
          <p:nvPr>
            <p:ph type="body" sz="quarter" idx="12"/>
          </p:nvPr>
        </p:nvSpPr>
        <p:spPr>
          <a:xfrm>
            <a:off x="647700" y="685800"/>
            <a:ext cx="11094357" cy="5524500"/>
          </a:xfrm>
        </p:spPr>
        <p:txBody>
          <a:bodyPr>
            <a:normAutofit/>
          </a:bodyPr>
          <a:lstStyle/>
          <a:p>
            <a:pPr marL="0" indent="0">
              <a:buNone/>
            </a:pPr>
            <a:r>
              <a:rPr lang="en-US" dirty="0"/>
              <a:t>   x    y</a:t>
            </a:r>
          </a:p>
          <a:p>
            <a:pPr marL="0" indent="0">
              <a:buNone/>
            </a:pPr>
            <a:r>
              <a:rPr lang="en-US" dirty="0"/>
              <a:t>0    male  </a:t>
            </a:r>
            <a:r>
              <a:rPr lang="en-US" dirty="0" smtClean="0"/>
              <a:t>978                                                                     </a:t>
            </a:r>
            <a:endParaRPr lang="en-US" dirty="0"/>
          </a:p>
          <a:p>
            <a:pPr marL="0" indent="0">
              <a:buNone/>
            </a:pPr>
            <a:r>
              <a:rPr lang="en-US" dirty="0"/>
              <a:t>1  female  </a:t>
            </a:r>
            <a:r>
              <a:rPr lang="en-US" dirty="0" smtClean="0"/>
              <a:t>588                                                                                   </a:t>
            </a:r>
            <a:endParaRPr lang="en-US" dirty="0"/>
          </a:p>
          <a:p>
            <a:pPr marL="0" indent="0">
              <a:buNone/>
            </a:pPr>
            <a:endParaRPr lang="en-US" dirty="0"/>
          </a:p>
          <a:p>
            <a:pPr marL="0" indent="0">
              <a:buNone/>
            </a:pPr>
            <a:endParaRPr lang="en-US" dirty="0" smtClean="0"/>
          </a:p>
          <a:p>
            <a:pPr marL="0" indent="0">
              <a:buNone/>
            </a:pPr>
            <a:r>
              <a:rPr lang="en-US" dirty="0" smtClean="0"/>
              <a:t>Patient </a:t>
            </a:r>
            <a:r>
              <a:rPr lang="en-US" dirty="0"/>
              <a:t>Ages: [0.19 0.22 0.27 0.32 </a:t>
            </a:r>
            <a:endParaRPr lang="en-US" dirty="0" smtClean="0"/>
          </a:p>
          <a:p>
            <a:pPr marL="0" indent="0">
              <a:buNone/>
            </a:pPr>
            <a:r>
              <a:rPr lang="en-US" dirty="0" smtClean="0"/>
              <a:t>0.37 </a:t>
            </a:r>
            <a:r>
              <a:rPr lang="en-US" dirty="0"/>
              <a:t>0.42 0.47 0.52 0.57 0.62 0.67 0.72]</a:t>
            </a:r>
          </a:p>
          <a:p>
            <a:pPr marL="457200" indent="-457200">
              <a:buAutoNum type="arabicPlain"/>
            </a:pPr>
            <a:r>
              <a:rPr lang="en-US" dirty="0"/>
              <a:t>Average Age: 0.4466666666666667</a:t>
            </a:r>
          </a:p>
          <a:p>
            <a:pPr marL="457200" indent="-457200">
              <a:buAutoNum type="arabicPlain"/>
            </a:pPr>
            <a:r>
              <a:rPr lang="en-US" dirty="0"/>
              <a:t>Minimum Age: 0.19</a:t>
            </a:r>
          </a:p>
          <a:p>
            <a:pPr marL="457200" indent="-457200">
              <a:buAutoNum type="arabicPlain"/>
            </a:pPr>
            <a:r>
              <a:rPr lang="en-US" dirty="0"/>
              <a:t>Maximum Age: </a:t>
            </a:r>
            <a:r>
              <a:rPr lang="en-US" dirty="0" smtClean="0"/>
              <a:t>0.72                                                                                  </a:t>
            </a:r>
            <a:endParaRPr lang="en-US" dirty="0"/>
          </a:p>
          <a:p>
            <a:pPr marL="457200" indent="-457200">
              <a:buAutoNum type="arabicPlain"/>
            </a:pPr>
            <a:r>
              <a:rPr lang="en-US" dirty="0"/>
              <a:t>Total Age: 5.36</a:t>
            </a:r>
          </a:p>
          <a:p>
            <a:pPr marL="457200" indent="-457200">
              <a:buAutoNum type="arabicPlain"/>
            </a:pPr>
            <a:r>
              <a:rPr lang="en-US" dirty="0"/>
              <a:t>Standard Deviation: 0.1700163390840879</a:t>
            </a:r>
            <a:endParaRPr lang="en-IN"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3490" y="685801"/>
            <a:ext cx="5130810" cy="2508094"/>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3490" y="3193895"/>
            <a:ext cx="5130810" cy="2959046"/>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5" end="5"/>
                                            </p:txEl>
                                          </p:spTgt>
                                        </p:tgtEl>
                                        <p:attrNameLst>
                                          <p:attrName>style.visibility</p:attrName>
                                        </p:attrNameLst>
                                      </p:cBhvr>
                                      <p:to>
                                        <p:strVal val="visible"/>
                                      </p:to>
                                    </p:set>
                                    <p:animEffect transition="in" filter="fade">
                                      <p:cBhvr>
                                        <p:cTn id="49" dur="1000"/>
                                        <p:tgtEl>
                                          <p:spTgt spid="10">
                                            <p:txEl>
                                              <p:pRg st="5" end="5"/>
                                            </p:txEl>
                                          </p:spTgt>
                                        </p:tgtEl>
                                      </p:cBhvr>
                                    </p:animEffect>
                                    <p:anim calcmode="lin" valueType="num">
                                      <p:cBhvr>
                                        <p:cTn id="50"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6" end="6"/>
                                            </p:txEl>
                                          </p:spTgt>
                                        </p:tgtEl>
                                        <p:attrNameLst>
                                          <p:attrName>style.visibility</p:attrName>
                                        </p:attrNameLst>
                                      </p:cBhvr>
                                      <p:to>
                                        <p:strVal val="visible"/>
                                      </p:to>
                                    </p:set>
                                    <p:animEffect transition="in" filter="fade">
                                      <p:cBhvr>
                                        <p:cTn id="56" dur="1000"/>
                                        <p:tgtEl>
                                          <p:spTgt spid="10">
                                            <p:txEl>
                                              <p:pRg st="6" end="6"/>
                                            </p:txEl>
                                          </p:spTgt>
                                        </p:tgtEl>
                                      </p:cBhvr>
                                    </p:animEffect>
                                    <p:anim calcmode="lin" valueType="num">
                                      <p:cBhvr>
                                        <p:cTn id="57"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7" end="7"/>
                                            </p:txEl>
                                          </p:spTgt>
                                        </p:tgtEl>
                                        <p:attrNameLst>
                                          <p:attrName>style.visibility</p:attrName>
                                        </p:attrNameLst>
                                      </p:cBhvr>
                                      <p:to>
                                        <p:strVal val="visible"/>
                                      </p:to>
                                    </p:set>
                                    <p:animEffect transition="in" filter="fade">
                                      <p:cBhvr>
                                        <p:cTn id="63" dur="1000"/>
                                        <p:tgtEl>
                                          <p:spTgt spid="10">
                                            <p:txEl>
                                              <p:pRg st="7" end="7"/>
                                            </p:txEl>
                                          </p:spTgt>
                                        </p:tgtEl>
                                      </p:cBhvr>
                                    </p:animEffect>
                                    <p:anim calcmode="lin" valueType="num">
                                      <p:cBhvr>
                                        <p:cTn id="64" dur="10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8" end="8"/>
                                            </p:txEl>
                                          </p:spTgt>
                                        </p:tgtEl>
                                        <p:attrNameLst>
                                          <p:attrName>style.visibility</p:attrName>
                                        </p:attrNameLst>
                                      </p:cBhvr>
                                      <p:to>
                                        <p:strVal val="visible"/>
                                      </p:to>
                                    </p:set>
                                    <p:animEffect transition="in" filter="fade">
                                      <p:cBhvr>
                                        <p:cTn id="70" dur="1000"/>
                                        <p:tgtEl>
                                          <p:spTgt spid="10">
                                            <p:txEl>
                                              <p:pRg st="8" end="8"/>
                                            </p:txEl>
                                          </p:spTgt>
                                        </p:tgtEl>
                                      </p:cBhvr>
                                    </p:animEffect>
                                    <p:anim calcmode="lin" valueType="num">
                                      <p:cBhvr>
                                        <p:cTn id="71" dur="1000" fill="hold"/>
                                        <p:tgtEl>
                                          <p:spTgt spid="10">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0">
                                            <p:txEl>
                                              <p:pRg st="9" end="9"/>
                                            </p:txEl>
                                          </p:spTgt>
                                        </p:tgtEl>
                                        <p:attrNameLst>
                                          <p:attrName>style.visibility</p:attrName>
                                        </p:attrNameLst>
                                      </p:cBhvr>
                                      <p:to>
                                        <p:strVal val="visible"/>
                                      </p:to>
                                    </p:set>
                                    <p:animEffect transition="in" filter="fade">
                                      <p:cBhvr>
                                        <p:cTn id="77" dur="1000"/>
                                        <p:tgtEl>
                                          <p:spTgt spid="10">
                                            <p:txEl>
                                              <p:pRg st="9" end="9"/>
                                            </p:txEl>
                                          </p:spTgt>
                                        </p:tgtEl>
                                      </p:cBhvr>
                                    </p:animEffect>
                                    <p:anim calcmode="lin" valueType="num">
                                      <p:cBhvr>
                                        <p:cTn id="78" dur="1000" fill="hold"/>
                                        <p:tgtEl>
                                          <p:spTgt spid="10">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10">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10">
                                            <p:txEl>
                                              <p:pRg st="10" end="10"/>
                                            </p:txEl>
                                          </p:spTgt>
                                        </p:tgtEl>
                                        <p:attrNameLst>
                                          <p:attrName>style.visibility</p:attrName>
                                        </p:attrNameLst>
                                      </p:cBhvr>
                                      <p:to>
                                        <p:strVal val="visible"/>
                                      </p:to>
                                    </p:set>
                                    <p:animEffect transition="in" filter="fade">
                                      <p:cBhvr>
                                        <p:cTn id="84" dur="1000"/>
                                        <p:tgtEl>
                                          <p:spTgt spid="10">
                                            <p:txEl>
                                              <p:pRg st="10" end="10"/>
                                            </p:txEl>
                                          </p:spTgt>
                                        </p:tgtEl>
                                      </p:cBhvr>
                                    </p:animEffect>
                                    <p:anim calcmode="lin" valueType="num">
                                      <p:cBhvr>
                                        <p:cTn id="85" dur="1000" fill="hold"/>
                                        <p:tgtEl>
                                          <p:spTgt spid="10">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10">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10">
                                            <p:txEl>
                                              <p:pRg st="11" end="11"/>
                                            </p:txEl>
                                          </p:spTgt>
                                        </p:tgtEl>
                                        <p:attrNameLst>
                                          <p:attrName>style.visibility</p:attrName>
                                        </p:attrNameLst>
                                      </p:cBhvr>
                                      <p:to>
                                        <p:strVal val="visible"/>
                                      </p:to>
                                    </p:set>
                                    <p:animEffect transition="in" filter="fade">
                                      <p:cBhvr>
                                        <p:cTn id="91" dur="1000"/>
                                        <p:tgtEl>
                                          <p:spTgt spid="10">
                                            <p:txEl>
                                              <p:pRg st="11" end="11"/>
                                            </p:txEl>
                                          </p:spTgt>
                                        </p:tgtEl>
                                      </p:cBhvr>
                                    </p:animEffect>
                                    <p:anim calcmode="lin" valueType="num">
                                      <p:cBhvr>
                                        <p:cTn id="92" dur="1000" fill="hold"/>
                                        <p:tgtEl>
                                          <p:spTgt spid="10">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10">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xmlns="" id="{BC277FD7-925B-4C3D-A364-118403201507}"/>
              </a:ext>
            </a:extLst>
          </p:cNvPr>
          <p:cNvSpPr>
            <a:spLocks noGrp="1"/>
          </p:cNvSpPr>
          <p:nvPr>
            <p:ph type="body" sz="quarter" idx="12"/>
          </p:nvPr>
        </p:nvSpPr>
        <p:spPr>
          <a:xfrm>
            <a:off x="3727864" y="3428999"/>
            <a:ext cx="4374735" cy="705781"/>
          </a:xfrm>
        </p:spPr>
        <p:txBody>
          <a:bodyPr>
            <a:noAutofit/>
          </a:bodyPr>
          <a:lstStyle/>
          <a:p>
            <a:r>
              <a:rPr lang="en-US" sz="2400" dirty="0">
                <a:solidFill>
                  <a:schemeClr val="tx1"/>
                </a:solidFill>
                <a:latin typeface="Times New Roman" panose="02020603050405020304" pitchFamily="18" charset="0"/>
                <a:cs typeface="Times New Roman" panose="02020603050405020304" pitchFamily="18" charset="0"/>
              </a:rPr>
              <a:t>Thank you</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nodePh="1">
                                  <p:stCondLst>
                                    <p:cond delay="0"/>
                                  </p:stCondLst>
                                  <p:endCondLst>
                                    <p:cond evt="begin" delay="0">
                                      <p:tn val="11"/>
                                    </p:cond>
                                  </p:end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p:tgtEl>
                                          <p:spTgt spid="20"/>
                                        </p:tgtEl>
                                        <p:attrNameLst>
                                          <p:attrName>ppt_y</p:attrName>
                                        </p:attrNameLst>
                                      </p:cBhvr>
                                      <p:tavLst>
                                        <p:tav tm="0">
                                          <p:val>
                                            <p:strVal val="#ppt_y+#ppt_h*1.125000"/>
                                          </p:val>
                                        </p:tav>
                                        <p:tav tm="100000">
                                          <p:val>
                                            <p:strVal val="#ppt_y"/>
                                          </p:val>
                                        </p:tav>
                                      </p:tavLst>
                                    </p:anim>
                                    <p:animEffect transition="in" filter="wipe(up)">
                                      <p:cBhvr>
                                        <p:cTn id="14" dur="500"/>
                                        <p:tgtEl>
                                          <p:spTgt spid="20"/>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500"/>
                                        <p:tgtEl>
                                          <p:spTgt spid="30"/>
                                        </p:tgtEl>
                                        <p:attrNameLst>
                                          <p:attrName>ppt_y</p:attrName>
                                        </p:attrNameLst>
                                      </p:cBhvr>
                                      <p:tavLst>
                                        <p:tav tm="0">
                                          <p:val>
                                            <p:strVal val="#ppt_y+#ppt_h*1.125000"/>
                                          </p:val>
                                        </p:tav>
                                        <p:tav tm="100000">
                                          <p:val>
                                            <p:strVal val="#ppt_y"/>
                                          </p:val>
                                        </p:tav>
                                      </p:tavLst>
                                    </p:anim>
                                    <p:animEffect transition="in" filter="wipe(up)">
                                      <p:cBhvr>
                                        <p:cTn id="20" dur="500"/>
                                        <p:tgtEl>
                                          <p:spTgt spid="3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nodePh="1">
                                  <p:stCondLst>
                                    <p:cond delay="0"/>
                                  </p:stCondLst>
                                  <p:endCondLst>
                                    <p:cond evt="begin" delay="0">
                                      <p:tn val="23"/>
                                    </p:cond>
                                  </p:endCondLst>
                                  <p:childTnLst>
                                    <p:set>
                                      <p:cBhvr>
                                        <p:cTn id="24" dur="1" fill="hold">
                                          <p:stCondLst>
                                            <p:cond delay="0"/>
                                          </p:stCondLst>
                                        </p:cTn>
                                        <p:tgtEl>
                                          <p:spTgt spid="23"/>
                                        </p:tgtEl>
                                        <p:attrNameLst>
                                          <p:attrName>style.visibility</p:attrName>
                                        </p:attrNameLst>
                                      </p:cBhvr>
                                      <p:to>
                                        <p:strVal val="visible"/>
                                      </p:to>
                                    </p:set>
                                    <p:anim calcmode="lin" valueType="num">
                                      <p:cBhvr additive="base">
                                        <p:cTn id="25" dur="500"/>
                                        <p:tgtEl>
                                          <p:spTgt spid="23"/>
                                        </p:tgtEl>
                                        <p:attrNameLst>
                                          <p:attrName>ppt_y</p:attrName>
                                        </p:attrNameLst>
                                      </p:cBhvr>
                                      <p:tavLst>
                                        <p:tav tm="0">
                                          <p:val>
                                            <p:strVal val="#ppt_y+#ppt_h*1.125000"/>
                                          </p:val>
                                        </p:tav>
                                        <p:tav tm="100000">
                                          <p:val>
                                            <p:strVal val="#ppt_y"/>
                                          </p:val>
                                        </p:tav>
                                      </p:tavLst>
                                    </p:anim>
                                    <p:animEffect transition="in" filter="wipe(up)">
                                      <p:cBhvr>
                                        <p:cTn id="26" dur="5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anim calcmode="lin" valueType="num">
                                      <p:cBhvr additive="base">
                                        <p:cTn id="31" dur="500"/>
                                        <p:tgtEl>
                                          <p:spTgt spid="32"/>
                                        </p:tgtEl>
                                        <p:attrNameLst>
                                          <p:attrName>ppt_y</p:attrName>
                                        </p:attrNameLst>
                                      </p:cBhvr>
                                      <p:tavLst>
                                        <p:tav tm="0">
                                          <p:val>
                                            <p:strVal val="#ppt_y+#ppt_h*1.125000"/>
                                          </p:val>
                                        </p:tav>
                                        <p:tav tm="100000">
                                          <p:val>
                                            <p:strVal val="#ppt_y"/>
                                          </p:val>
                                        </p:tav>
                                      </p:tavLst>
                                    </p:anim>
                                    <p:animEffect transition="in" filter="wipe(up)">
                                      <p:cBhvr>
                                        <p:cTn id="3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documentManagement/types"/>
    <ds:schemaRef ds:uri="http://purl.org/dc/terms/"/>
    <ds:schemaRef ds:uri="http://schemas.openxmlformats.org/package/2006/metadata/core-properties"/>
    <ds:schemaRef ds:uri="http://schemas.microsoft.com/office/2006/metadata/properties"/>
    <ds:schemaRef ds:uri="http://purl.org/dc/elements/1.1/"/>
    <ds:schemaRef ds:uri="http://purl.org/dc/dcmitype/"/>
    <ds:schemaRef ds:uri="http://www.w3.org/XML/1998/namespace"/>
    <ds:schemaRef ds:uri="http://schemas.microsoft.com/office/infopath/2007/PartnerControls"/>
    <ds:schemaRef ds:uri="16c05727-aa75-4e4a-9b5f-8a80a1165891"/>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608</TotalTime>
  <Words>311</Words>
  <Application>Microsoft Office PowerPoint</Application>
  <PresentationFormat>Widescreen</PresentationFormat>
  <Paragraphs>47</Paragraphs>
  <Slides>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Times New Roman</vt:lpstr>
      <vt:lpstr>Trebuchet MS</vt:lpstr>
      <vt:lpstr>Wingdings</vt:lpstr>
      <vt:lpstr>Wingdings 3</vt:lpstr>
      <vt:lpstr>Facet</vt:lpstr>
      <vt:lpstr>Healthcare Analytics for Doctor Visits </vt:lpstr>
      <vt:lpstr>PROBLEM  STATEMENT:</vt:lpstr>
      <vt:lpstr> The main objective of this project is to analyze doctor visit data and identify important patterns such as the number of patient visits, frequently visited doctors or departments, patient demographics, appointment trends, waiting times, and missed or cancelled appointments. The project also focuses on identifying peak days and time periods when the number of patient visits is high  Healthcare Analytics for Doctor Visits is a data analytics project designed to analyze patient appointment and doctor visit data to understand healthcare service patterns and improve operational efficiency. Healthcare organizations handle a large volume of information related to patients, doctors, appointments, medical conditions, visit dates, waiting times, and appointment status. Analyzing this information can help healthcare providers identify trends and make better data-driven decisions.  </vt:lpstr>
      <vt:lpstr>WHO ARE THE END USERS?</vt:lpstr>
      <vt:lpstr>Technology Used:</vt:lpstr>
      <vt:lpstr>RESULTS: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Microsoft account</cp:lastModifiedBy>
  <cp:revision>80</cp:revision>
  <dcterms:created xsi:type="dcterms:W3CDTF">2021-07-11T13:13:15Z</dcterms:created>
  <dcterms:modified xsi:type="dcterms:W3CDTF">2026-09-27T12:58:48Z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